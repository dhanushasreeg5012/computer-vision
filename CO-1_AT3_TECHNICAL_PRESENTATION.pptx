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21.fntdata" ContentType="application/x-fontdata"/>
  <Override PartName="/ppt/fonts/font22.fntdata" ContentType="application/x-fontdata"/>
  <Override PartName="/ppt/fonts/font23.fntdata" ContentType="application/x-fontdata"/>
  <Override PartName="/ppt/fonts/font24.fntdata" ContentType="application/x-fontdata"/>
  <Override PartName="/ppt/fonts/font25.fntdata" ContentType="application/x-fontdata"/>
  <Override PartName="/ppt/fonts/font26.fntdata" ContentType="application/x-fontdata"/>
  <Override PartName="/ppt/fonts/font27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9144000" cy="5143500"/>
  <p:notesSz cx="5143500" cy="9144000"/>
  <p:embeddedFontLst>
    <p:embeddedFont>
      <p:font typeface="Alexandria Medium" pitchFamily="34" charset="0"/>
      <p:regular r:id="rId13"/>
    </p:embeddedFont>
    <p:embeddedFont>
      <p:font typeface="Alexandria Medium" pitchFamily="34" charset="-122"/>
      <p:regular r:id="rId14"/>
    </p:embeddedFont>
    <p:embeddedFont>
      <p:font typeface="Alexandria Medium" pitchFamily="34" charset="-120"/>
      <p:regular r:id="rId15"/>
    </p:embeddedFont>
    <p:embeddedFont>
      <p:font typeface="Manrope" pitchFamily="34" charset="0"/>
      <p:regular r:id="rId16"/>
    </p:embeddedFont>
    <p:embeddedFont>
      <p:font typeface="Manrope" pitchFamily="34" charset="-122"/>
      <p:regular r:id="rId17"/>
    </p:embeddedFont>
    <p:embeddedFont>
      <p:font typeface="Manrope" pitchFamily="34" charset="-120"/>
      <p:regular r:id="rId18"/>
    </p:embeddedFont>
    <p:embeddedFont>
      <p:font typeface="Manrope Bold" pitchFamily="34" charset="0"/>
      <p:bold r:id="rId19"/>
    </p:embeddedFont>
    <p:embeddedFont>
      <p:font typeface="Manrope Bold" pitchFamily="34" charset="-122"/>
      <p:bold r:id="rId20"/>
    </p:embeddedFont>
    <p:embeddedFont>
      <p:font typeface="Manrope Bold" pitchFamily="34" charset="-120"/>
      <p:bold r:id="rId21"/>
    </p:embeddedFont>
    <p:embeddedFont>
      <p:font typeface="Consolas" panose="020B0609020204030204" pitchFamily="34" charset="0"/>
      <p:regular r:id="rId22"/>
      <p:bold r:id="rId23"/>
      <p:italic r:id="rId24"/>
      <p:boldItalic r:id="rId25"/>
    </p:embeddedFont>
    <p:embeddedFont>
      <p:font typeface="Consolas" panose="020B0609020204030204" pitchFamily="34" charset="-122"/>
      <p:regular r:id="rId26"/>
      <p:bold r:id="rId27"/>
      <p:italic r:id="rId28"/>
      <p:boldItalic r:id="rId29"/>
    </p:embeddedFont>
    <p:embeddedFont>
      <p:font typeface="Consolas" panose="020B0609020204030204" pitchFamily="34" charset="-120"/>
      <p:regular r:id="rId30"/>
      <p:bold r:id="rId31"/>
      <p:italic r:id="rId32"/>
      <p:boldItalic r:id="rId33"/>
    </p:embeddedFont>
    <p:embeddedFont>
      <p:font typeface="Calibri" panose="020F0502020204030204" charset="0"/>
      <p:regular r:id="rId34"/>
      <p:bold r:id="rId35"/>
      <p:italic r:id="rId36"/>
      <p:boldItalic r:id="rId37"/>
    </p:embeddedFont>
    <p:embeddedFont>
      <p:font typeface="Microsoft YaHei" panose="020B0503020204020204" charset="-122"/>
      <p:regular r:id="rId38"/>
      <p:bold r:id="rId3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9" Type="http://schemas.openxmlformats.org/officeDocument/2006/relationships/font" Target="fonts/font27.fntdata"/><Relationship Id="rId38" Type="http://schemas.openxmlformats.org/officeDocument/2006/relationships/font" Target="fonts/font26.fntdata"/><Relationship Id="rId37" Type="http://schemas.openxmlformats.org/officeDocument/2006/relationships/font" Target="fonts/font25.fntdata"/><Relationship Id="rId36" Type="http://schemas.openxmlformats.org/officeDocument/2006/relationships/font" Target="fonts/font24.fntdata"/><Relationship Id="rId35" Type="http://schemas.openxmlformats.org/officeDocument/2006/relationships/font" Target="fonts/font23.fntdata"/><Relationship Id="rId34" Type="http://schemas.openxmlformats.org/officeDocument/2006/relationships/font" Target="fonts/font22.fntdata"/><Relationship Id="rId33" Type="http://schemas.openxmlformats.org/officeDocument/2006/relationships/font" Target="fonts/font21.fntdata"/><Relationship Id="rId32" Type="http://schemas.openxmlformats.org/officeDocument/2006/relationships/font" Target="fonts/font20.fntdata"/><Relationship Id="rId31" Type="http://schemas.openxmlformats.org/officeDocument/2006/relationships/font" Target="fonts/font19.fntdata"/><Relationship Id="rId30" Type="http://schemas.openxmlformats.org/officeDocument/2006/relationships/font" Target="fonts/font18.fntdata"/><Relationship Id="rId3" Type="http://schemas.openxmlformats.org/officeDocument/2006/relationships/slide" Target="slides/slide1.xml"/><Relationship Id="rId29" Type="http://schemas.openxmlformats.org/officeDocument/2006/relationships/font" Target="fonts/font17.fntdata"/><Relationship Id="rId28" Type="http://schemas.openxmlformats.org/officeDocument/2006/relationships/font" Target="fonts/font16.fntdata"/><Relationship Id="rId27" Type="http://schemas.openxmlformats.org/officeDocument/2006/relationships/font" Target="fonts/font15.fntdata"/><Relationship Id="rId26" Type="http://schemas.openxmlformats.org/officeDocument/2006/relationships/font" Target="fonts/font14.fntdata"/><Relationship Id="rId25" Type="http://schemas.openxmlformats.org/officeDocument/2006/relationships/font" Target="fonts/font13.fntdata"/><Relationship Id="rId24" Type="http://schemas.openxmlformats.org/officeDocument/2006/relationships/font" Target="fonts/font12.fntdata"/><Relationship Id="rId23" Type="http://schemas.openxmlformats.org/officeDocument/2006/relationships/font" Target="fonts/font11.fntdata"/><Relationship Id="rId22" Type="http://schemas.openxmlformats.org/officeDocument/2006/relationships/font" Target="fonts/font10.fntdata"/><Relationship Id="rId21" Type="http://schemas.openxmlformats.org/officeDocument/2006/relationships/font" Target="fonts/font9.fntdata"/><Relationship Id="rId20" Type="http://schemas.openxmlformats.org/officeDocument/2006/relationships/font" Target="fonts/font8.fntdata"/><Relationship Id="rId2" Type="http://schemas.openxmlformats.org/officeDocument/2006/relationships/theme" Target="theme/theme1.xml"/><Relationship Id="rId19" Type="http://schemas.openxmlformats.org/officeDocument/2006/relationships/font" Target="fonts/font7.fntdata"/><Relationship Id="rId18" Type="http://schemas.openxmlformats.org/officeDocument/2006/relationships/font" Target="fonts/font6.fntdata"/><Relationship Id="rId17" Type="http://schemas.openxmlformats.org/officeDocument/2006/relationships/font" Target="fonts/font5.fntdata"/><Relationship Id="rId16" Type="http://schemas.openxmlformats.org/officeDocument/2006/relationships/font" Target="fonts/font4.fntdata"/><Relationship Id="rId15" Type="http://schemas.openxmlformats.org/officeDocument/2006/relationships/font" Target="fonts/font3.fntdata"/><Relationship Id="rId14" Type="http://schemas.openxmlformats.org/officeDocument/2006/relationships/font" Target="fonts/font2.fntdata"/><Relationship Id="rId13" Type="http://schemas.openxmlformats.org/officeDocument/2006/relationships/font" Target="fonts/font1.fntdata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7.png"/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70509" y="348188"/>
            <a:ext cx="4722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Digital Grayscale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871144" y="791051"/>
            <a:ext cx="4722763" cy="183415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Principles, Challenges, and Precision</a:t>
            </a:r>
            <a:endParaRPr lang="en-US" sz="3850" dirty="0"/>
          </a:p>
        </p:txBody>
      </p:sp>
      <p:sp>
        <p:nvSpPr>
          <p:cNvPr id="5" name="Text 2"/>
          <p:cNvSpPr/>
          <p:nvPr/>
        </p:nvSpPr>
        <p:spPr>
          <a:xfrm>
            <a:off x="3925119" y="3582665"/>
            <a:ext cx="4722763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6" name="Text Box 5"/>
          <p:cNvSpPr txBox="1"/>
          <p:nvPr/>
        </p:nvSpPr>
        <p:spPr>
          <a:xfrm>
            <a:off x="5418455" y="3290485"/>
            <a:ext cx="3048000" cy="1337945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1350" b="1">
                <a:latin typeface="Arial" panose="020B0604020202020204" pitchFamily="34" charset="0"/>
                <a:ea typeface="Microsoft YaHei" panose="020B0503020204020204" charset="-122"/>
              </a:rPr>
              <a:t>Presented by:</a:t>
            </a:r>
            <a:endParaRPr lang="en-US" sz="1350" b="1">
              <a:latin typeface="Arial" panose="020B0604020202020204" pitchFamily="34" charset="0"/>
              <a:ea typeface="Microsoft YaHei" panose="020B0503020204020204" charset="-122"/>
            </a:endParaRPr>
          </a:p>
          <a:p>
            <a:pPr algn="l"/>
            <a:endParaRPr lang="en-US" sz="1350" b="1">
              <a:latin typeface="Arial" panose="020B0604020202020204" pitchFamily="34" charset="0"/>
              <a:ea typeface="Microsoft YaHei" panose="020B0503020204020204" charset="-122"/>
            </a:endParaRPr>
          </a:p>
          <a:p>
            <a:pPr algn="l"/>
            <a:r>
              <a:rPr lang="en-US" sz="1350" b="1">
                <a:latin typeface="Arial" panose="020B0604020202020204" pitchFamily="34" charset="0"/>
                <a:ea typeface="Microsoft YaHei" panose="020B0503020204020204" charset="-122"/>
              </a:rPr>
              <a:t>G.Dhanusha Sree(192325012) </a:t>
            </a:r>
            <a:endParaRPr lang="en-US" sz="1350" b="1">
              <a:latin typeface="Arial" panose="020B0604020202020204" pitchFamily="34" charset="0"/>
              <a:ea typeface="Microsoft YaHei" panose="020B0503020204020204" charset="-122"/>
            </a:endParaRPr>
          </a:p>
          <a:p>
            <a:pPr algn="l"/>
            <a:r>
              <a:rPr lang="en-US" sz="1350" b="1">
                <a:latin typeface="Arial" panose="020B0604020202020204" pitchFamily="34" charset="0"/>
                <a:ea typeface="Microsoft YaHei" panose="020B0503020204020204" charset="-122"/>
              </a:rPr>
              <a:t>U.Udhayashree(192521448)</a:t>
            </a:r>
            <a:endParaRPr lang="en-US" sz="1350" b="1">
              <a:latin typeface="Arial" panose="020B0604020202020204" pitchFamily="34" charset="0"/>
              <a:ea typeface="Microsoft YaHei" panose="020B0503020204020204" charset="-122"/>
            </a:endParaRPr>
          </a:p>
          <a:p>
            <a:pPr algn="l"/>
            <a:r>
              <a:rPr lang="en-US" sz="1350" b="1">
                <a:latin typeface="Arial" panose="020B0604020202020204" pitchFamily="34" charset="0"/>
                <a:ea typeface="Microsoft YaHei" panose="020B0503020204020204" charset="-122"/>
              </a:rPr>
              <a:t>T.S.Sai Lahari(192325137)</a:t>
            </a:r>
            <a:endParaRPr lang="en-US" sz="1350" b="1">
              <a:latin typeface="Arial" panose="020B0604020202020204" pitchFamily="34" charset="0"/>
              <a:ea typeface="Microsoft YaHei" panose="020B0503020204020204" charset="-122"/>
            </a:endParaRPr>
          </a:p>
          <a:p>
            <a:pPr algn="l"/>
            <a:r>
              <a:rPr lang="en-US" sz="1350" b="1">
                <a:latin typeface="Arial" panose="020B0604020202020204" pitchFamily="34" charset="0"/>
                <a:ea typeface="Microsoft YaHei" panose="020B0503020204020204" charset="-122"/>
              </a:rPr>
              <a:t>Kondeti Sai Teertha (192325131)</a:t>
            </a:r>
            <a:endParaRPr lang="en-US" sz="1350" b="1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610" y="4765040"/>
            <a:ext cx="3057525" cy="3333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9816"/>
            <a:ext cx="8151763" cy="4083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Defining the Monochrome Image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935" y="1396365"/>
            <a:ext cx="4177665" cy="29394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838" y="887259"/>
            <a:ext cx="2645866" cy="2041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The Mathematical Model</a:t>
            </a:r>
            <a:endParaRPr lang="en-US" sz="1250" b="1" dirty="0"/>
          </a:p>
        </p:txBody>
      </p:sp>
      <p:sp>
        <p:nvSpPr>
          <p:cNvPr id="5" name="Text 2"/>
          <p:cNvSpPr/>
          <p:nvPr/>
        </p:nvSpPr>
        <p:spPr>
          <a:xfrm>
            <a:off x="6002258" y="1140733"/>
            <a:ext cx="2645866" cy="8033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grayscale image is a 2D function: </a:t>
            </a:r>
            <a:r>
              <a:rPr lang="en-US" sz="1400" b="1" dirty="0">
                <a:solidFill>
                  <a:schemeClr val="tx1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f(x,y) = illumination × reflectance</a:t>
            </a:r>
            <a:r>
              <a:rPr lang="en-US" sz="14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Each pixel holds an intensity value from </a:t>
            </a:r>
            <a:r>
              <a:rPr lang="en-US" sz="1400" b="1" dirty="0">
                <a:solidFill>
                  <a:schemeClr val="tx1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0 (black)</a:t>
            </a:r>
            <a:r>
              <a:rPr lang="en-US" sz="14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to </a:t>
            </a:r>
            <a:r>
              <a:rPr lang="en-US" sz="1400" b="1" dirty="0">
                <a:solidFill>
                  <a:schemeClr val="tx1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255 (white)</a:t>
            </a:r>
            <a:r>
              <a:rPr lang="en-US" sz="14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in standard 8-bit images.</a:t>
            </a:r>
            <a:endParaRPr lang="en-US" sz="1400" dirty="0">
              <a:solidFill>
                <a:schemeClr val="tx1"/>
              </a:solidFill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 marL="0" indent="0" algn="l">
              <a:lnSpc>
                <a:spcPct val="128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*No Blur and Better Contrast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6091158" y="2796738"/>
            <a:ext cx="2645866" cy="2041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Digitization in Two Steps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91158" y="3065453"/>
            <a:ext cx="2645866" cy="8454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2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Sampling</a:t>
            </a:r>
            <a:r>
              <a:rPr lang="en-US" sz="12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spatial grid placement of pixels</a:t>
            </a:r>
            <a:endParaRPr lang="en-US" sz="12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2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Quantization</a:t>
            </a:r>
            <a:r>
              <a:rPr lang="en-US" sz="12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assigning amplitude levels</a:t>
            </a:r>
            <a:endParaRPr lang="en-US" sz="1200" dirty="0">
              <a:solidFill>
                <a:srgbClr val="5B6E8C"/>
              </a:solidFill>
              <a:latin typeface="Manrope" pitchFamily="34" charset="0"/>
              <a:ea typeface="Manrope" pitchFamily="34" charset="-122"/>
              <a:cs typeface="Manrope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091158" y="3974063"/>
            <a:ext cx="2645866" cy="884709"/>
          </a:xfrm>
          <a:prstGeom prst="roundRect">
            <a:avLst>
              <a:gd name="adj" fmla="val 22158"/>
            </a:avLst>
          </a:prstGeom>
          <a:solidFill>
            <a:srgbClr val="CDEFFE"/>
          </a:solidFill>
        </p:spPr>
      </p:sp>
      <p:sp>
        <p:nvSpPr>
          <p:cNvPr id="10" name="Text 6"/>
          <p:cNvSpPr/>
          <p:nvPr/>
        </p:nvSpPr>
        <p:spPr>
          <a:xfrm>
            <a:off x="6431384" y="4114517"/>
            <a:ext cx="2090514" cy="60253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Black velvet reflects ~0.01; snow reflects ~0.93 — yet both must be faithfully represented.</a:t>
            </a:r>
            <a:endParaRPr lang="en-US" sz="10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6465" y="4810125"/>
            <a:ext cx="3057525" cy="3333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6925"/>
            <a:ext cx="4722763" cy="7058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Practical Limitations and Distortions</a:t>
            </a:r>
            <a:endParaRPr lang="en-US" sz="2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237804"/>
            <a:ext cx="4722763" cy="80969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0517" y="1365052"/>
            <a:ext cx="4411117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Device Inconsistency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680517" y="1595512"/>
            <a:ext cx="4411117" cy="3247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Displays vary in maximum luminance and respond differently to ambient light, causing the same image to appear different across monitors.</a:t>
            </a:r>
            <a:endParaRPr lang="en-US" sz="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137470"/>
            <a:ext cx="4722763" cy="80969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80517" y="2264718"/>
            <a:ext cx="4411117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Hardcopy vs. Softcopy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680517" y="2495178"/>
            <a:ext cx="4411117" cy="3247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Printed film and digital monitors often yield conflicting visual results, complicating cross-referencing in clinical workflows.</a:t>
            </a:r>
            <a:endParaRPr lang="en-US" sz="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037136"/>
            <a:ext cx="4722763" cy="80969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0517" y="3164384"/>
            <a:ext cx="4411117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Dynamic Range Issues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680517" y="3394844"/>
            <a:ext cx="4411117" cy="3247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Human perception is non-linear — not all intensity levels are equally visible, especially at the extremes of the grayscale.</a:t>
            </a:r>
            <a:endParaRPr lang="en-US" sz="8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936802"/>
            <a:ext cx="4722763" cy="80969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80517" y="4064050"/>
            <a:ext cx="4411117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Diagnostic Stakes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680517" y="4294510"/>
            <a:ext cx="4411117" cy="3247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Inconsistent rendering can obscure clinical masses or critical features, directly impacting patient outcomes.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7062"/>
            <a:ext cx="8151763" cy="3391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Analytical Tools and Enhancements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96119" y="984349"/>
            <a:ext cx="2680990" cy="785664"/>
          </a:xfrm>
          <a:prstGeom prst="roundRect">
            <a:avLst>
              <a:gd name="adj" fmla="val 2072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377" y="1097607"/>
            <a:ext cx="2454473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Contrast Manipulation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377" y="1350169"/>
            <a:ext cx="2454473" cy="3065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Functions like </a:t>
            </a:r>
            <a:r>
              <a:rPr lang="en-US" sz="850" dirty="0">
                <a:solidFill>
                  <a:srgbClr val="000000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imadjust</a:t>
            </a:r>
            <a:r>
              <a:rPr lang="en-US" sz="8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remap intensity ranges to improve visibility.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96119" y="1853059"/>
            <a:ext cx="2680990" cy="785664"/>
          </a:xfrm>
          <a:prstGeom prst="roundRect">
            <a:avLst>
              <a:gd name="adj" fmla="val 2072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377" y="1966317"/>
            <a:ext cx="2454473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Histogram Techniques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9377" y="2218879"/>
            <a:ext cx="2454473" cy="3065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Stretching or equalizing distributions flattens contrast and reveals hidden detail.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96119" y="2721769"/>
            <a:ext cx="2680990" cy="785664"/>
          </a:xfrm>
          <a:prstGeom prst="roundRect">
            <a:avLst>
              <a:gd name="adj" fmla="val 2072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377" y="2835027"/>
            <a:ext cx="2454473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Logarithmic Transforms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9377" y="3087588"/>
            <a:ext cx="2454473" cy="3065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Compresses wide dynamic ranges into a viewable spectrum.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96119" y="3590479"/>
            <a:ext cx="2680990" cy="785664"/>
          </a:xfrm>
          <a:prstGeom prst="roundRect">
            <a:avLst>
              <a:gd name="adj" fmla="val 2072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9377" y="3703737"/>
            <a:ext cx="2454473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Spatial Processing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9377" y="3956298"/>
            <a:ext cx="2454473" cy="3065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Local operators modify pixels based on their surrounding neighbourhood.</a:t>
            </a:r>
            <a:endParaRPr lang="en-US" sz="85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6636" y="1205210"/>
            <a:ext cx="5205933" cy="2949997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96119" y="4563070"/>
            <a:ext cx="8608963" cy="1532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These tools transform raw grayscale data into diagnostically useful images by correcting for capture limitations and display constraints.</a:t>
            </a:r>
            <a:endParaRPr lang="en-US" sz="85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7740" y="4810125"/>
            <a:ext cx="3057525" cy="3333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29891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Standardization: The Modern Era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56395"/>
            <a:ext cx="838200" cy="5179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451571"/>
            <a:ext cx="1905000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DICOM GSDF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758083"/>
            <a:ext cx="1905000" cy="11340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Grayscale Standard Display Function creates a </a:t>
            </a: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perceptually linear curve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ensuring uniform output regardless of hardware.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1756395"/>
            <a:ext cx="838200" cy="5179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2451571"/>
            <a:ext cx="1905074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Presentation States (GSPS)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2979539"/>
            <a:ext cx="1905074" cy="11340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Objects that store rendering parameters, annotations, and spatial transforms </a:t>
            </a: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separately from the image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itself.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1756395"/>
            <a:ext cx="838200" cy="5179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2451571"/>
            <a:ext cx="190507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Calibration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2758083"/>
            <a:ext cx="1905074" cy="11340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Mandatory hardware adjustment to the GSDF curve ensures </a:t>
            </a: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vendor-neutral consistency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across all displays.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1756395"/>
            <a:ext cx="838200" cy="5179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2451571"/>
            <a:ext cx="190507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Hanging Protocols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2758083"/>
            <a:ext cx="1905074" cy="11340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Automated instructions enforce </a:t>
            </a: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consistent layout and orientation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across every workstation in the network.</a:t>
            </a:r>
            <a:endParaRPr lang="en-US" sz="11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6475" y="4739640"/>
            <a:ext cx="3057525" cy="3333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9231"/>
            <a:ext cx="4722763" cy="8167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Precision as the Clinical Standard</a:t>
            </a:r>
            <a:endParaRPr lang="en-US" sz="2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4083" y="1400733"/>
            <a:ext cx="196007" cy="19600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49800" y="1396678"/>
            <a:ext cx="4298082" cy="2041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Consistency is not automatic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4349800" y="1673051"/>
            <a:ext cx="4298082" cy="4016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Digital reliability demands strict calibration and standardized metadata at every stage of the imaging chain.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4083" y="2319747"/>
            <a:ext cx="196007" cy="19600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49800" y="2315691"/>
            <a:ext cx="4298082" cy="2041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Rethink the image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4349800" y="2592065"/>
            <a:ext cx="4298082" cy="4016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Shift from viewing images as static files to treating them as </a:t>
            </a:r>
            <a:r>
              <a:rPr lang="en-US" sz="10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calibrated, reproducible data states</a:t>
            </a: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4083" y="3238760"/>
            <a:ext cx="196007" cy="19600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349800" y="3234705"/>
            <a:ext cx="4298082" cy="2041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Next-generation focus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4349800" y="3511079"/>
            <a:ext cx="4298082" cy="4016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Managing color-blended and fusion imaging alongside grayscale diagnostics is the emerging frontier.</a:t>
            </a:r>
            <a:endParaRPr lang="en-US" sz="1000" dirty="0"/>
          </a:p>
        </p:txBody>
      </p:sp>
      <p:sp>
        <p:nvSpPr>
          <p:cNvPr id="13" name="Shape 7"/>
          <p:cNvSpPr/>
          <p:nvPr/>
        </p:nvSpPr>
        <p:spPr>
          <a:xfrm>
            <a:off x="3925119" y="4055894"/>
            <a:ext cx="4722763" cy="695920"/>
          </a:xfrm>
          <a:prstGeom prst="roundRect">
            <a:avLst>
              <a:gd name="adj" fmla="val 28170"/>
            </a:avLst>
          </a:prstGeom>
          <a:solidFill>
            <a:srgbClr val="CDEFFE"/>
          </a:solidFill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5790" y="4235351"/>
            <a:ext cx="163339" cy="13067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349800" y="4201418"/>
            <a:ext cx="4167411" cy="4016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Call to Action:</a:t>
            </a: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Audit your display workflows against GSDF standards to ensure absolute diagnostic reliability.</a:t>
            </a:r>
            <a:endParaRPr lang="en-US" sz="10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6475" y="4810125"/>
            <a:ext cx="3057525" cy="3333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2815</Words>
  <Application>WPS Presentation</Application>
  <PresentationFormat>On-screen Show (16:9)</PresentationFormat>
  <Paragraphs>97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5" baseType="lpstr">
      <vt:lpstr>Arial</vt:lpstr>
      <vt:lpstr>SimSun</vt:lpstr>
      <vt:lpstr>Wingdings</vt:lpstr>
      <vt:lpstr>Alexandria Medium</vt:lpstr>
      <vt:lpstr>Alexandria Medium</vt:lpstr>
      <vt:lpstr>Alexandria Medium</vt:lpstr>
      <vt:lpstr>Manrope</vt:lpstr>
      <vt:lpstr>Manrope</vt:lpstr>
      <vt:lpstr>Manrope</vt:lpstr>
      <vt:lpstr>Manrope Bold</vt:lpstr>
      <vt:lpstr>Manrope Bold</vt:lpstr>
      <vt:lpstr>Manrope Bold</vt:lpstr>
      <vt:lpstr>Consolas</vt:lpstr>
      <vt:lpstr>Consolas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Asus</cp:lastModifiedBy>
  <cp:revision>3</cp:revision>
  <dcterms:created xsi:type="dcterms:W3CDTF">2026-07-27T08:50:00Z</dcterms:created>
  <dcterms:modified xsi:type="dcterms:W3CDTF">2026-07-27T09:06:49Z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A7B899C31DB845F8BAAC0580E333F610_13</vt:lpwstr>
  </property>
</Properties>
</file>